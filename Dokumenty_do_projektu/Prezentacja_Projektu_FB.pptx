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hZW7bENEnEZjcmhuQkpli9vRXJ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17.png"/><Relationship Id="rId7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24.png"/><Relationship Id="rId5" Type="http://schemas.openxmlformats.org/officeDocument/2006/relationships/image" Target="../media/image15.png"/><Relationship Id="rId6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8.png"/><Relationship Id="rId5" Type="http://schemas.openxmlformats.org/officeDocument/2006/relationships/image" Target="../media/image21.png"/><Relationship Id="rId6" Type="http://schemas.openxmlformats.org/officeDocument/2006/relationships/image" Target="../media/image1.png"/><Relationship Id="rId7" Type="http://schemas.openxmlformats.org/officeDocument/2006/relationships/image" Target="../media/image19.png"/><Relationship Id="rId8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2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595360" y="548640"/>
            <a:ext cx="2743200" cy="1005840"/>
          </a:xfrm>
          <a:prstGeom prst="ellipse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9326880" y="1097280"/>
            <a:ext cx="2194560" cy="822960"/>
          </a:xfrm>
          <a:prstGeom prst="ellipse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22960" y="777240"/>
            <a:ext cx="1051560" cy="1051560"/>
          </a:xfrm>
          <a:prstGeom prst="ellipse">
            <a:avLst/>
          </a:prstGeom>
          <a:solidFill>
            <a:srgbClr val="4EAF4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gamepad_w.png" id="19" name="Google Shape;1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0" y="1040130"/>
            <a:ext cx="525780" cy="52578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2057400" y="9144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C200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2C200"/>
                </a:solidFill>
                <a:latin typeface="Arial"/>
                <a:ea typeface="Arial"/>
                <a:cs typeface="Arial"/>
                <a:sym typeface="Arial"/>
              </a:rPr>
              <a:t>PROJEKT - PROGRAMOWANIE II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22960" y="1874520"/>
            <a:ext cx="10515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400"/>
              <a:buFont typeface="Arial"/>
              <a:buNone/>
            </a:pPr>
            <a:r>
              <a:rPr b="1" lang="en-US" sz="8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Flappy Bird</a:t>
            </a:r>
            <a:endParaRPr sz="8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68680" y="320040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E1F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AFE1F0"/>
                </a:solidFill>
                <a:latin typeface="Arial"/>
                <a:ea typeface="Arial"/>
                <a:cs typeface="Arial"/>
                <a:sym typeface="Arial"/>
              </a:rPr>
              <a:t>Gra 2D w C++ z biblioteką Qt 6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868680" y="4572000"/>
            <a:ext cx="2514600" cy="566928"/>
          </a:xfrm>
          <a:prstGeom prst="roundRect">
            <a:avLst>
              <a:gd fmla="val 50000" name="adj"/>
            </a:avLst>
          </a:prstGeom>
          <a:solidFill>
            <a:srgbClr val="FFFFFF">
              <a:alpha val="12156"/>
            </a:srgbClr>
          </a:solidFill>
          <a:ln cap="flat" cmpd="sng" w="12700">
            <a:solidFill>
              <a:srgbClr val="4EAF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868680" y="4572000"/>
            <a:ext cx="2514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Olaf Rysiewicz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611880" y="4572000"/>
            <a:ext cx="2514600" cy="566928"/>
          </a:xfrm>
          <a:prstGeom prst="roundRect">
            <a:avLst>
              <a:gd fmla="val 50000" name="adj"/>
            </a:avLst>
          </a:prstGeom>
          <a:solidFill>
            <a:srgbClr val="FFFFFF">
              <a:alpha val="12156"/>
            </a:srgbClr>
          </a:solidFill>
          <a:ln cap="flat" cmpd="sng" w="12700">
            <a:solidFill>
              <a:srgbClr val="4EAF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611880" y="4572000"/>
            <a:ext cx="2514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Dawid Skatuła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355080" y="4572000"/>
            <a:ext cx="2514600" cy="566928"/>
          </a:xfrm>
          <a:prstGeom prst="roundRect">
            <a:avLst>
              <a:gd fmla="val 50000" name="adj"/>
            </a:avLst>
          </a:prstGeom>
          <a:solidFill>
            <a:srgbClr val="FFFFFF">
              <a:alpha val="12156"/>
            </a:srgbClr>
          </a:solidFill>
          <a:ln cap="flat" cmpd="sng" w="12700">
            <a:solidFill>
              <a:srgbClr val="4EAF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355080" y="4572000"/>
            <a:ext cx="2514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Szymon Panek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868680" y="557784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Politechnika Śląska, Wydział RMS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FE1F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AFE1F0"/>
                </a:solidFill>
                <a:latin typeface="Arial"/>
                <a:ea typeface="Arial"/>
                <a:cs typeface="Arial"/>
                <a:sym typeface="Arial"/>
              </a:rPr>
              <a:t>Prowadzący: dr inż. Marcin Sobota  ·  semestr 2025/2026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Czym jest projekt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66928" y="10515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E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5B6B5E"/>
                </a:solidFill>
                <a:latin typeface="Arial"/>
                <a:ea typeface="Arial"/>
                <a:cs typeface="Arial"/>
                <a:sym typeface="Arial"/>
              </a:rPr>
              <a:t>Klon gry Flappy Bird napisany w C++ jako aplikacja okienkowa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48640" y="1691640"/>
            <a:ext cx="6126480" cy="1024128"/>
          </a:xfrm>
          <a:prstGeom prst="roundRect">
            <a:avLst>
              <a:gd fmla="val 8036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1B2A20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777240" y="1938528"/>
            <a:ext cx="530352" cy="530352"/>
          </a:xfrm>
          <a:prstGeom prst="ellipse">
            <a:avLst/>
          </a:prstGeom>
          <a:solidFill>
            <a:srgbClr val="EAF4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feather.png" id="39" name="Google Shape;3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828" y="2071116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1481328" y="1837944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Fizyka ptaka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481328" y="2167128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E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5B6B5E"/>
                </a:solidFill>
                <a:latin typeface="Arial"/>
                <a:ea typeface="Arial"/>
                <a:cs typeface="Arial"/>
                <a:sym typeface="Arial"/>
              </a:rPr>
              <a:t>Ciągłe opadanie pod wpływem grawitacji, skok po spacji lub kliknięciu myszą.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48640" y="2843784"/>
            <a:ext cx="6126480" cy="1024128"/>
          </a:xfrm>
          <a:prstGeom prst="roundRect">
            <a:avLst>
              <a:gd fmla="val 8036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1B2A20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777240" y="3090672"/>
            <a:ext cx="530352" cy="530352"/>
          </a:xfrm>
          <a:prstGeom prst="ellipse">
            <a:avLst/>
          </a:prstGeom>
          <a:solidFill>
            <a:srgbClr val="EAF4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stream.png" id="44" name="Google Shape;4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9828" y="3223260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"/>
          <p:cNvSpPr/>
          <p:nvPr/>
        </p:nvSpPr>
        <p:spPr>
          <a:xfrm>
            <a:off x="1481328" y="2990088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Losowe przeszkody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481328" y="3319272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E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5B6B5E"/>
                </a:solidFill>
                <a:latin typeface="Arial"/>
                <a:ea typeface="Arial"/>
                <a:cs typeface="Arial"/>
                <a:sym typeface="Arial"/>
              </a:rPr>
              <a:t>Pary rur z losową wysokością przerwy, przesuwające się w lewo.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48640" y="3995928"/>
            <a:ext cx="6126480" cy="1024128"/>
          </a:xfrm>
          <a:prstGeom prst="roundRect">
            <a:avLst>
              <a:gd fmla="val 8036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1B2A20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777240" y="4242816"/>
            <a:ext cx="530352" cy="530352"/>
          </a:xfrm>
          <a:prstGeom prst="ellipse">
            <a:avLst/>
          </a:prstGeom>
          <a:solidFill>
            <a:srgbClr val="EAF4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check.png" id="49" name="Google Shape;4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9828" y="4375404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1481328" y="4142232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Punktacja i kolizje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481328" y="4471416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E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5B6B5E"/>
                </a:solidFill>
                <a:latin typeface="Arial"/>
                <a:ea typeface="Arial"/>
                <a:cs typeface="Arial"/>
                <a:sym typeface="Arial"/>
              </a:rPr>
              <a:t>+1 punktu za każdą ominiętą parę rur; koniec gry przy zderzeniu.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548640" y="5148072"/>
            <a:ext cx="6126480" cy="1024128"/>
          </a:xfrm>
          <a:prstGeom prst="roundRect">
            <a:avLst>
              <a:gd fmla="val 8036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1B2A20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777240" y="5394960"/>
            <a:ext cx="530352" cy="530352"/>
          </a:xfrm>
          <a:prstGeom prst="ellipse">
            <a:avLst/>
          </a:prstGeom>
          <a:solidFill>
            <a:srgbClr val="EAF4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trophy.png" id="54" name="Google Shape;5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9828" y="5527548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"/>
          <p:cNvSpPr/>
          <p:nvPr/>
        </p:nvSpPr>
        <p:spPr>
          <a:xfrm>
            <a:off x="1481328" y="5294376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Rekord sesji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481328" y="5623560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E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5B6B5E"/>
                </a:solidFill>
                <a:latin typeface="Arial"/>
                <a:ea typeface="Arial"/>
                <a:cs typeface="Arial"/>
                <a:sym typeface="Arial"/>
              </a:rPr>
              <a:t>Najlepszy wynik z bieżącej sesji (bez zapisu do pliku).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7360920" y="1554480"/>
            <a:ext cx="4297680" cy="4937760"/>
          </a:xfrm>
          <a:prstGeom prst="roundRect">
            <a:avLst>
              <a:gd fmla="val 2979" name="adj"/>
            </a:avLst>
          </a:prstGeom>
          <a:solidFill>
            <a:srgbClr val="1B2A20"/>
          </a:solidFill>
          <a:ln>
            <a:noFill/>
          </a:ln>
          <a:effectLst>
            <a:outerShdw blurRad="114300" rotWithShape="0" algn="bl" dir="5400000" dist="38100">
              <a:srgbClr val="1B2A20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s_start.png" id="58" name="Google Shape;58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27783" y="1783080"/>
            <a:ext cx="3363954" cy="448056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"/>
          <p:cNvSpPr/>
          <p:nvPr/>
        </p:nvSpPr>
        <p:spPr>
          <a:xfrm>
            <a:off x="7360920" y="6510528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5E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5B6B5E"/>
                </a:solidFill>
                <a:latin typeface="Arial"/>
                <a:ea typeface="Arial"/>
                <a:cs typeface="Arial"/>
                <a:sym typeface="Arial"/>
              </a:rPr>
              <a:t>ekran startowy gry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5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B6B5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20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/>
          <p:nvPr/>
        </p:nvSpPr>
        <p:spPr>
          <a:xfrm>
            <a:off x="9144000" y="457200"/>
            <a:ext cx="2377440" cy="868680"/>
          </a:xfrm>
          <a:prstGeom prst="ellipse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40080" y="640080"/>
            <a:ext cx="2011680" cy="731520"/>
          </a:xfrm>
          <a:prstGeom prst="ellipse">
            <a:avLst/>
          </a:prstGeom>
          <a:solidFill>
            <a:srgbClr val="FFFFFF">
              <a:alpha val="705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Zrzuty z gry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566928" y="10515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E1F0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AFE1F0"/>
                </a:solidFill>
                <a:latin typeface="Arial"/>
                <a:ea typeface="Arial"/>
                <a:cs typeface="Arial"/>
                <a:sym typeface="Arial"/>
              </a:rPr>
              <a:t>Tak wygląda gotowa gra w działaniu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2470252" y="1600200"/>
            <a:ext cx="3145536" cy="4061857"/>
          </a:xfrm>
          <a:prstGeom prst="roundRect">
            <a:avLst>
              <a:gd fmla="val 3488" name="adj"/>
            </a:avLst>
          </a:prstGeom>
          <a:solidFill>
            <a:srgbClr val="0E1A12"/>
          </a:solidFill>
          <a:ln cap="flat" cmpd="sng" w="15875">
            <a:solidFill>
              <a:srgbClr val="4EAF41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20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s_start.png" id="71" name="Google Shape;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1420" y="1801368"/>
            <a:ext cx="2743200" cy="3659521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/>
          <p:nvPr/>
        </p:nvSpPr>
        <p:spPr>
          <a:xfrm>
            <a:off x="2470252" y="5771785"/>
            <a:ext cx="31455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2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F2C200"/>
                </a:solidFill>
                <a:latin typeface="Arial"/>
                <a:ea typeface="Arial"/>
                <a:cs typeface="Arial"/>
                <a:sym typeface="Arial"/>
              </a:rPr>
              <a:t>Ekran startowy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2195932" y="6137545"/>
            <a:ext cx="36941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FE1F0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AFE1F0"/>
                </a:solidFill>
                <a:latin typeface="Arial"/>
                <a:ea typeface="Arial"/>
                <a:cs typeface="Arial"/>
                <a:sym typeface="Arial"/>
              </a:rPr>
              <a:t>tytuł, instrukcja i nazwiska autorów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575908" y="1600200"/>
            <a:ext cx="3145536" cy="4061857"/>
          </a:xfrm>
          <a:prstGeom prst="roundRect">
            <a:avLst>
              <a:gd fmla="val 3488" name="adj"/>
            </a:avLst>
          </a:prstGeom>
          <a:solidFill>
            <a:srgbClr val="0E1A12"/>
          </a:solidFill>
          <a:ln cap="flat" cmpd="sng" w="15875">
            <a:solidFill>
              <a:srgbClr val="4EAF41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20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s_over.png" id="75" name="Google Shape;7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7076" y="1801368"/>
            <a:ext cx="2743200" cy="365952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/>
          <p:nvPr/>
        </p:nvSpPr>
        <p:spPr>
          <a:xfrm>
            <a:off x="6575908" y="5771785"/>
            <a:ext cx="31455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2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F2C200"/>
                </a:solidFill>
                <a:latin typeface="Arial"/>
                <a:ea typeface="Arial"/>
                <a:cs typeface="Arial"/>
                <a:sym typeface="Arial"/>
              </a:rPr>
              <a:t>Koniec gry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301588" y="6137545"/>
            <a:ext cx="36941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FE1F0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AFE1F0"/>
                </a:solidFill>
                <a:latin typeface="Arial"/>
                <a:ea typeface="Arial"/>
                <a:cs typeface="Arial"/>
                <a:sym typeface="Arial"/>
              </a:rPr>
              <a:t>wynik, rekord i opcja restartu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5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B6B5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Stos technologiczny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566928" y="10515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E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5B6B5E"/>
                </a:solidFill>
                <a:latin typeface="Arial"/>
                <a:ea typeface="Arial"/>
                <a:cs typeface="Arial"/>
                <a:sym typeface="Arial"/>
              </a:rPr>
              <a:t>Narzędzia i biblioteki użyte w projekcie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548640" y="1783080"/>
            <a:ext cx="2697480" cy="2377440"/>
          </a:xfrm>
          <a:prstGeom prst="roundRect">
            <a:avLst>
              <a:gd fmla="val 3462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1B2A20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1508760" y="2057400"/>
            <a:ext cx="777240" cy="777240"/>
          </a:xfrm>
          <a:prstGeom prst="ellipse">
            <a:avLst/>
          </a:prstGeom>
          <a:solidFill>
            <a:srgbClr val="EAF4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code.png" id="88" name="Google Shape;8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3070" y="225171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"/>
          <p:cNvSpPr/>
          <p:nvPr/>
        </p:nvSpPr>
        <p:spPr>
          <a:xfrm>
            <a:off x="640080" y="297180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Język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731520" y="3383280"/>
            <a:ext cx="2331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5E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5B6B5E"/>
                </a:solidFill>
                <a:latin typeface="Arial"/>
                <a:ea typeface="Arial"/>
                <a:cs typeface="Arial"/>
                <a:sym typeface="Arial"/>
              </a:rPr>
              <a:t>C++17 - klasy, dziedziczenie, polimorfizm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3364992" y="1783080"/>
            <a:ext cx="2697480" cy="2377440"/>
          </a:xfrm>
          <a:prstGeom prst="roundRect">
            <a:avLst>
              <a:gd fmla="val 3462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1B2A20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325112" y="2057400"/>
            <a:ext cx="777240" cy="777240"/>
          </a:xfrm>
          <a:prstGeom prst="ellipse">
            <a:avLst/>
          </a:prstGeom>
          <a:solidFill>
            <a:srgbClr val="EAF4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window.png" id="93" name="Google Shape;9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9422" y="225171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"/>
          <p:cNvSpPr/>
          <p:nvPr/>
        </p:nvSpPr>
        <p:spPr>
          <a:xfrm>
            <a:off x="3456432" y="297180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GUI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3547872" y="3383280"/>
            <a:ext cx="2331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5E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5B6B5E"/>
                </a:solidFill>
                <a:latin typeface="Arial"/>
                <a:ea typeface="Arial"/>
                <a:cs typeface="Arial"/>
                <a:sym typeface="Arial"/>
              </a:rPr>
              <a:t>Qt 6 (moduły Core + Widgets)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6181344" y="1783080"/>
            <a:ext cx="2697480" cy="2377440"/>
          </a:xfrm>
          <a:prstGeom prst="roundRect">
            <a:avLst>
              <a:gd fmla="val 3462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1B2A20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7141464" y="2057400"/>
            <a:ext cx="777240" cy="777240"/>
          </a:xfrm>
          <a:prstGeom prst="ellipse">
            <a:avLst/>
          </a:prstGeom>
          <a:solidFill>
            <a:srgbClr val="EAF4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brush.png" id="98" name="Google Shape;9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35774" y="225171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4"/>
          <p:cNvSpPr/>
          <p:nvPr/>
        </p:nvSpPr>
        <p:spPr>
          <a:xfrm>
            <a:off x="6272784" y="297180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Grafika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364224" y="3383280"/>
            <a:ext cx="2331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5E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5B6B5E"/>
                </a:solidFill>
                <a:latin typeface="Arial"/>
                <a:ea typeface="Arial"/>
                <a:cs typeface="Arial"/>
                <a:sym typeface="Arial"/>
              </a:rPr>
              <a:t>QPainter - rysowanie wektorowe kodem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8997696" y="1783080"/>
            <a:ext cx="2697480" cy="2377440"/>
          </a:xfrm>
          <a:prstGeom prst="roundRect">
            <a:avLst>
              <a:gd fmla="val 3462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1B2A20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9957816" y="2057400"/>
            <a:ext cx="777240" cy="777240"/>
          </a:xfrm>
          <a:prstGeom prst="ellipse">
            <a:avLst/>
          </a:prstGeom>
          <a:solidFill>
            <a:srgbClr val="EAF4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cogs.png" id="103" name="Google Shape;10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52126" y="225171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4"/>
          <p:cNvSpPr/>
          <p:nvPr/>
        </p:nvSpPr>
        <p:spPr>
          <a:xfrm>
            <a:off x="9089136" y="297180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Build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9180576" y="3383280"/>
            <a:ext cx="2331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5E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5B6B5E"/>
                </a:solidFill>
                <a:latin typeface="Arial"/>
                <a:ea typeface="Arial"/>
                <a:cs typeface="Arial"/>
                <a:sym typeface="Arial"/>
              </a:rPr>
              <a:t>CMake 3.16+, qt_add_executable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548640" y="4526280"/>
            <a:ext cx="11091672" cy="1691640"/>
          </a:xfrm>
          <a:prstGeom prst="roundRect">
            <a:avLst>
              <a:gd fmla="val 5405" name="adj"/>
            </a:avLst>
          </a:prstGeom>
          <a:solidFill>
            <a:srgbClr val="1B2A20"/>
          </a:solidFill>
          <a:ln>
            <a:noFill/>
          </a:ln>
          <a:effectLst>
            <a:outerShdw blurRad="114300" rotWithShape="0" algn="bl" dir="5400000" dist="38100">
              <a:srgbClr val="1B2A20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05840" y="4983480"/>
            <a:ext cx="822960" cy="822960"/>
          </a:xfrm>
          <a:prstGeom prst="ellipse">
            <a:avLst/>
          </a:prstGeom>
          <a:solidFill>
            <a:srgbClr val="4EAF4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brush.png" id="108" name="Google Shape;10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11580" y="51892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/>
          <p:nvPr/>
        </p:nvSpPr>
        <p:spPr>
          <a:xfrm>
            <a:off x="2148840" y="49377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Grafika rysowana kodem - bez plików PNG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2148840" y="5413248"/>
            <a:ext cx="9052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E1F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AFE1F0"/>
                </a:solidFill>
                <a:latin typeface="Arial"/>
                <a:ea typeface="Arial"/>
                <a:cs typeface="Arial"/>
                <a:sym typeface="Arial"/>
              </a:rPr>
              <a:t>Zdecydowaliśmy narysować wszystko kodem - ptaka, rury, chmury, tło. Dzięki temu projekt nie wymaga żadnych zewnętrznych plików graficznych.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5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B6B5E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20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Architektura klas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566928" y="10515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E1F0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AFE1F0"/>
                </a:solidFill>
                <a:latin typeface="Arial"/>
                <a:ea typeface="Arial"/>
                <a:cs typeface="Arial"/>
                <a:sym typeface="Arial"/>
              </a:rPr>
              <a:t>Jak podzieliliśmy projekt na klasy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822960" y="1920240"/>
            <a:ext cx="3108960" cy="914400"/>
          </a:xfrm>
          <a:prstGeom prst="roundRect">
            <a:avLst>
              <a:gd fmla="val 8000" name="adj"/>
            </a:avLst>
          </a:prstGeom>
          <a:solidFill>
            <a:srgbClr val="4EAF41"/>
          </a:solidFill>
          <a:ln>
            <a:noFill/>
          </a:ln>
          <a:effectLst>
            <a:outerShdw blurRad="114300" rotWithShape="0" algn="bl" dir="5400000" dist="38100">
              <a:srgbClr val="1B2A20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822960" y="2029968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GameObject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914400" y="242316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klasa abstrakcyjna · draw() + update() = 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457200" y="3931920"/>
            <a:ext cx="233172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1B2A20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457200" y="4041648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Bird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548640" y="443484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ptak gracza · fizyka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2926080" y="3931920"/>
            <a:ext cx="233172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1B2A20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2926080" y="4041648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Pipe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3017520" y="443484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para rur · walidacja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5394960" y="3931920"/>
            <a:ext cx="233172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1B2A20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5394960" y="4041648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Ground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5486400" y="443484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statyczne podłoże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5"/>
          <p:cNvCxnSpPr/>
          <p:nvPr/>
        </p:nvCxnSpPr>
        <p:spPr>
          <a:xfrm>
            <a:off x="2377440" y="2834640"/>
            <a:ext cx="0" cy="822960"/>
          </a:xfrm>
          <a:prstGeom prst="straightConnector1">
            <a:avLst/>
          </a:prstGeom>
          <a:noFill/>
          <a:ln cap="flat" cmpd="sng" w="22225">
            <a:solidFill>
              <a:srgbClr val="7FA88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5"/>
          <p:cNvCxnSpPr/>
          <p:nvPr/>
        </p:nvCxnSpPr>
        <p:spPr>
          <a:xfrm>
            <a:off x="1618488" y="3657600"/>
            <a:ext cx="0" cy="274320"/>
          </a:xfrm>
          <a:prstGeom prst="straightConnector1">
            <a:avLst/>
          </a:prstGeom>
          <a:noFill/>
          <a:ln cap="flat" cmpd="sng" w="22225">
            <a:solidFill>
              <a:srgbClr val="7FA88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" name="Google Shape;133;p5"/>
          <p:cNvCxnSpPr/>
          <p:nvPr/>
        </p:nvCxnSpPr>
        <p:spPr>
          <a:xfrm>
            <a:off x="4087368" y="3657600"/>
            <a:ext cx="0" cy="274320"/>
          </a:xfrm>
          <a:prstGeom prst="straightConnector1">
            <a:avLst/>
          </a:prstGeom>
          <a:noFill/>
          <a:ln cap="flat" cmpd="sng" w="22225">
            <a:solidFill>
              <a:srgbClr val="7FA88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" name="Google Shape;134;p5"/>
          <p:cNvCxnSpPr/>
          <p:nvPr/>
        </p:nvCxnSpPr>
        <p:spPr>
          <a:xfrm>
            <a:off x="6556248" y="3657600"/>
            <a:ext cx="0" cy="274320"/>
          </a:xfrm>
          <a:prstGeom prst="straightConnector1">
            <a:avLst/>
          </a:prstGeom>
          <a:noFill/>
          <a:ln cap="flat" cmpd="sng" w="22225">
            <a:solidFill>
              <a:srgbClr val="7FA88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" name="Google Shape;135;p5"/>
          <p:cNvCxnSpPr/>
          <p:nvPr/>
        </p:nvCxnSpPr>
        <p:spPr>
          <a:xfrm>
            <a:off x="1618488" y="3657600"/>
            <a:ext cx="4937760" cy="0"/>
          </a:xfrm>
          <a:prstGeom prst="straightConnector1">
            <a:avLst/>
          </a:prstGeom>
          <a:noFill/>
          <a:ln cap="flat" cmpd="sng" w="22225">
            <a:solidFill>
              <a:srgbClr val="7FA88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" name="Google Shape;136;p5"/>
          <p:cNvCxnSpPr/>
          <p:nvPr/>
        </p:nvCxnSpPr>
        <p:spPr>
          <a:xfrm>
            <a:off x="2377440" y="3657600"/>
            <a:ext cx="0" cy="0"/>
          </a:xfrm>
          <a:prstGeom prst="straightConnector1">
            <a:avLst/>
          </a:prstGeom>
          <a:noFill/>
          <a:ln cap="flat" cmpd="sng" w="22225">
            <a:solidFill>
              <a:srgbClr val="7FA88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5"/>
          <p:cNvSpPr/>
          <p:nvPr/>
        </p:nvSpPr>
        <p:spPr>
          <a:xfrm>
            <a:off x="8503920" y="1920240"/>
            <a:ext cx="3017520" cy="914400"/>
          </a:xfrm>
          <a:prstGeom prst="roundRect">
            <a:avLst>
              <a:gd fmla="val 8000" name="adj"/>
            </a:avLst>
          </a:prstGeom>
          <a:solidFill>
            <a:srgbClr val="2B3F50"/>
          </a:solidFill>
          <a:ln>
            <a:noFill/>
          </a:ln>
          <a:effectLst>
            <a:outerShdw blurRad="114300" rotWithShape="0" algn="bl" dir="5400000" dist="38100">
              <a:srgbClr val="1B2A20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8503920" y="2029968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QWidget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8595360" y="242316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klasa bazowa z Qt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8503920" y="3931920"/>
            <a:ext cx="3017520" cy="1097280"/>
          </a:xfrm>
          <a:prstGeom prst="roundRect">
            <a:avLst>
              <a:gd fmla="val 6667" name="adj"/>
            </a:avLst>
          </a:prstGeom>
          <a:solidFill>
            <a:srgbClr val="F2C200"/>
          </a:solidFill>
          <a:ln>
            <a:noFill/>
          </a:ln>
          <a:effectLst>
            <a:outerShdw blurRad="114300" rotWithShape="0" algn="bl" dir="5400000" dist="38100">
              <a:srgbClr val="1B2A20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8503920" y="4041648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GameWindow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8595360" y="4434840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główne okno · pętla gry,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kolizje, stan, UI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5"/>
          <p:cNvCxnSpPr/>
          <p:nvPr/>
        </p:nvCxnSpPr>
        <p:spPr>
          <a:xfrm>
            <a:off x="10012680" y="2834640"/>
            <a:ext cx="0" cy="1097280"/>
          </a:xfrm>
          <a:prstGeom prst="straightConnector1">
            <a:avLst/>
          </a:prstGeom>
          <a:noFill/>
          <a:ln cap="flat" cmpd="sng" w="22225">
            <a:solidFill>
              <a:srgbClr val="7FA88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5"/>
          <p:cNvSpPr/>
          <p:nvPr/>
        </p:nvSpPr>
        <p:spPr>
          <a:xfrm>
            <a:off x="2926080" y="5532120"/>
            <a:ext cx="2331720" cy="914400"/>
          </a:xfrm>
          <a:prstGeom prst="roundRect">
            <a:avLst>
              <a:gd fmla="val 8000" name="adj"/>
            </a:avLst>
          </a:prstGeom>
          <a:solidFill>
            <a:srgbClr val="DDEBD9"/>
          </a:solidFill>
          <a:ln>
            <a:noFill/>
          </a:ln>
          <a:effectLst>
            <a:outerShdw blurRad="114300" rotWithShape="0" algn="bl" dir="5400000" dist="38100">
              <a:srgbClr val="1B2A20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2926080" y="5641848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PipeFactory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3017520" y="603504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wzorzec Factory · tworzy rury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p5"/>
          <p:cNvCxnSpPr/>
          <p:nvPr/>
        </p:nvCxnSpPr>
        <p:spPr>
          <a:xfrm>
            <a:off x="4087368" y="4846320"/>
            <a:ext cx="0" cy="685800"/>
          </a:xfrm>
          <a:prstGeom prst="straightConnector1">
            <a:avLst/>
          </a:prstGeom>
          <a:noFill/>
          <a:ln cap="flat" cmpd="sng" w="22225">
            <a:solidFill>
              <a:srgbClr val="7FA88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" name="Google Shape;148;p5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5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B6B5E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Zrealizowane koncepcje OOP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566928" y="10515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E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5B6B5E"/>
                </a:solidFill>
                <a:latin typeface="Arial"/>
                <a:ea typeface="Arial"/>
                <a:cs typeface="Arial"/>
                <a:sym typeface="Arial"/>
              </a:rPr>
              <a:t>Co z laboratorium zastosowaliśmy w projekcie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548640" y="1783080"/>
            <a:ext cx="5440680" cy="1325880"/>
          </a:xfrm>
          <a:prstGeom prst="roundRect">
            <a:avLst>
              <a:gd fmla="val 6207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1B2A20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777240" y="2167128"/>
            <a:ext cx="566928" cy="566928"/>
          </a:xfrm>
          <a:prstGeom prst="ellipse">
            <a:avLst/>
          </a:prstGeom>
          <a:solidFill>
            <a:srgbClr val="EAF4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layers.png" id="158" name="Google Shape;1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8972" y="2308860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6"/>
          <p:cNvSpPr/>
          <p:nvPr/>
        </p:nvSpPr>
        <p:spPr>
          <a:xfrm>
            <a:off x="1508760" y="1965960"/>
            <a:ext cx="4343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Dziedziczenie + polimorfizm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1508760" y="2350008"/>
            <a:ext cx="43708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E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B6B5E"/>
                </a:solidFill>
                <a:latin typeface="Arial"/>
                <a:ea typeface="Arial"/>
                <a:cs typeface="Arial"/>
                <a:sym typeface="Arial"/>
              </a:rPr>
              <a:t>Bird, Pipe i Ground dziedziczą po GameObject i nadpisują wirtualne draw() oraz update().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6199632" y="1783080"/>
            <a:ext cx="5440680" cy="1325880"/>
          </a:xfrm>
          <a:prstGeom prst="roundRect">
            <a:avLst>
              <a:gd fmla="val 6207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1B2A20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6428232" y="2167128"/>
            <a:ext cx="566928" cy="566928"/>
          </a:xfrm>
          <a:prstGeom prst="ellipse">
            <a:avLst/>
          </a:prstGeom>
          <a:solidFill>
            <a:srgbClr val="EAF4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check.png" id="163" name="Google Shape;16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9964" y="2308860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6"/>
          <p:cNvSpPr/>
          <p:nvPr/>
        </p:nvSpPr>
        <p:spPr>
          <a:xfrm>
            <a:off x="7159752" y="1965960"/>
            <a:ext cx="4343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Wirtualny destruktor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7159752" y="2350008"/>
            <a:ext cx="43708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E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B6B5E"/>
                </a:solidFill>
                <a:latin typeface="Arial"/>
                <a:ea typeface="Arial"/>
                <a:cs typeface="Arial"/>
                <a:sym typeface="Arial"/>
              </a:rPr>
              <a:t>~GameObject() musi być virtual - bez tego delete przez wskaźnik bazowy nie wywoła destruktora klasy pochodnej.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548640" y="3264408"/>
            <a:ext cx="5440680" cy="1325880"/>
          </a:xfrm>
          <a:prstGeom prst="roundRect">
            <a:avLst>
              <a:gd fmla="val 6207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1B2A20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777240" y="3648456"/>
            <a:ext cx="566928" cy="566928"/>
          </a:xfrm>
          <a:prstGeom prst="ellipse">
            <a:avLst/>
          </a:prstGeom>
          <a:solidFill>
            <a:srgbClr val="EAF4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shield.png" id="168" name="Google Shape;16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8972" y="379018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6"/>
          <p:cNvSpPr/>
          <p:nvPr/>
        </p:nvSpPr>
        <p:spPr>
          <a:xfrm>
            <a:off x="1508760" y="3447288"/>
            <a:ext cx="4343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Obsługa wyjątków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508760" y="3831336"/>
            <a:ext cx="43708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E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B6B5E"/>
                </a:solidFill>
                <a:latin typeface="Arial"/>
                <a:ea typeface="Arial"/>
                <a:cs typeface="Arial"/>
                <a:sym typeface="Arial"/>
              </a:rPr>
              <a:t>Konstruktor Pipe rzuca wyjątek gdy parametry są złe, PipeFactory go łapie i podstawia bezpieczne wartości.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199632" y="3264408"/>
            <a:ext cx="5440680" cy="1325880"/>
          </a:xfrm>
          <a:prstGeom prst="roundRect">
            <a:avLst>
              <a:gd fmla="val 6207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1B2A20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6428232" y="3648456"/>
            <a:ext cx="566928" cy="566928"/>
          </a:xfrm>
          <a:prstGeom prst="ellipse">
            <a:avLst/>
          </a:prstGeom>
          <a:solidFill>
            <a:srgbClr val="EAF4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industry.png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69964" y="379018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6"/>
          <p:cNvSpPr/>
          <p:nvPr/>
        </p:nvSpPr>
        <p:spPr>
          <a:xfrm>
            <a:off x="7159752" y="3447288"/>
            <a:ext cx="4343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Wzorzec Factory Method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7159752" y="3831336"/>
            <a:ext cx="43708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E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B6B5E"/>
                </a:solidFill>
                <a:latin typeface="Arial"/>
                <a:ea typeface="Arial"/>
                <a:cs typeface="Arial"/>
                <a:sym typeface="Arial"/>
              </a:rPr>
              <a:t>PipeFactory centralizuje tworzenie rur - losowanie pozycji i walidację.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548640" y="4745736"/>
            <a:ext cx="5440680" cy="1325880"/>
          </a:xfrm>
          <a:prstGeom prst="roundRect">
            <a:avLst>
              <a:gd fmla="val 6207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1B2A20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777240" y="5129784"/>
            <a:ext cx="566928" cy="566928"/>
          </a:xfrm>
          <a:prstGeom prst="ellipse">
            <a:avLst/>
          </a:prstGeom>
          <a:solidFill>
            <a:srgbClr val="EAF4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code.png" id="178" name="Google Shape;178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8972" y="5271516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6"/>
          <p:cNvSpPr/>
          <p:nvPr/>
        </p:nvSpPr>
        <p:spPr>
          <a:xfrm>
            <a:off x="1508760" y="4928616"/>
            <a:ext cx="4343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Konstruktory i destruktory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1508760" y="5312664"/>
            <a:ext cx="43708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E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B6B5E"/>
                </a:solidFill>
                <a:latin typeface="Arial"/>
                <a:ea typeface="Arial"/>
                <a:cs typeface="Arial"/>
                <a:sym typeface="Arial"/>
              </a:rPr>
              <a:t>Każda klasa ma konstruktor domyślny, parametryczny i destruktor.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6199632" y="4745736"/>
            <a:ext cx="5440680" cy="1325880"/>
          </a:xfrm>
          <a:prstGeom prst="roundRect">
            <a:avLst>
              <a:gd fmla="val 6207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1B2A20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6428232" y="5129784"/>
            <a:ext cx="566928" cy="566928"/>
          </a:xfrm>
          <a:prstGeom prst="ellipse">
            <a:avLst/>
          </a:prstGeom>
          <a:solidFill>
            <a:srgbClr val="EAF4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brush.png" id="183" name="Google Shape;183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69964" y="5271516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6"/>
          <p:cNvSpPr/>
          <p:nvPr/>
        </p:nvSpPr>
        <p:spPr>
          <a:xfrm>
            <a:off x="7159752" y="4928616"/>
            <a:ext cx="4343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Walidacja danych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7159752" y="5312664"/>
            <a:ext cx="43708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E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B6B5E"/>
                </a:solidFill>
                <a:latin typeface="Arial"/>
                <a:ea typeface="Arial"/>
                <a:cs typeface="Arial"/>
                <a:sym typeface="Arial"/>
              </a:rPr>
              <a:t>Sprawdzanie minimalnej przerwy i zakresu pozycji rur przed utworzeniem.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5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B6B5E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2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Klasy: GameObject i Bird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548640" y="1143000"/>
            <a:ext cx="5486400" cy="5212080"/>
          </a:xfrm>
          <a:prstGeom prst="roundRect">
            <a:avLst>
              <a:gd fmla="val 1579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1B2A20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822960" y="1417320"/>
            <a:ext cx="640080" cy="640080"/>
          </a:xfrm>
          <a:prstGeom prst="ellipse">
            <a:avLst/>
          </a:prstGeom>
          <a:solidFill>
            <a:srgbClr val="EAF4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cubes.png" id="195" name="Google Shape;19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2980" y="15773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7"/>
          <p:cNvSpPr/>
          <p:nvPr/>
        </p:nvSpPr>
        <p:spPr>
          <a:xfrm>
            <a:off x="1600200" y="146304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GameObject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1600200" y="1901952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E"/>
              </a:buClr>
              <a:buSzPts val="1200"/>
              <a:buFont typeface="Arial"/>
              <a:buNone/>
            </a:pPr>
            <a:r>
              <a:rPr i="1" lang="en-US" sz="1200">
                <a:solidFill>
                  <a:srgbClr val="5B6B5E"/>
                </a:solidFill>
                <a:latin typeface="Arial"/>
                <a:ea typeface="Arial"/>
                <a:cs typeface="Arial"/>
                <a:sym typeface="Arial"/>
              </a:rPr>
              <a:t>klasa bazowa (abstrakcyjna)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868680" y="233172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1250"/>
              <a:buFont typeface="Arial"/>
              <a:buChar char="•"/>
            </a:pPr>
            <a:r>
              <a:rPr lang="en-US" sz="125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Wspólny rodzic wszystkich obiektów gry. Definiuje pozycję (x, y) i rozmiar.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B2A20"/>
              </a:buClr>
              <a:buSzPts val="1250"/>
              <a:buFont typeface="Arial"/>
              <a:buChar char="•"/>
            </a:pPr>
            <a:r>
              <a:rPr lang="en-US" sz="125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draw() i update() są czysto wirtualne - każda klasa pochodna musi je zaimplementować.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B2A20"/>
              </a:buClr>
              <a:buSzPts val="1250"/>
              <a:buFont typeface="Arial"/>
              <a:buChar char="•"/>
            </a:pPr>
            <a:r>
              <a:rPr lang="en-US" sz="125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Wirtualny destruktor - konieczny gdy usuwamy obiekty przez wskaźnik do klasy bazowej.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868680" y="3886200"/>
            <a:ext cx="4846320" cy="2240280"/>
          </a:xfrm>
          <a:prstGeom prst="roundRect">
            <a:avLst>
              <a:gd fmla="val 2449" name="adj"/>
            </a:avLst>
          </a:prstGeom>
          <a:solidFill>
            <a:srgbClr val="1B2A2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51560" y="4069080"/>
            <a:ext cx="45720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FE1F0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AFE1F0"/>
                </a:solidFill>
                <a:latin typeface="Courier New"/>
                <a:ea typeface="Courier New"/>
                <a:cs typeface="Courier New"/>
                <a:sym typeface="Courier New"/>
              </a:rPr>
              <a:t>class GameObject {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DC8A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FDC8A"/>
                </a:solidFill>
                <a:latin typeface="Courier New"/>
                <a:ea typeface="Courier New"/>
                <a:cs typeface="Courier New"/>
                <a:sym typeface="Courier New"/>
              </a:rPr>
              <a:t>  virtual void draw(QPainter&amp;) = 0;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DC8A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FDC8A"/>
                </a:solidFill>
                <a:latin typeface="Courier New"/>
                <a:ea typeface="Courier New"/>
                <a:cs typeface="Courier New"/>
                <a:sym typeface="Courier New"/>
              </a:rPr>
              <a:t>  virtual void update()        = 0;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FE6A0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9FE6A0"/>
                </a:solidFill>
                <a:latin typeface="Courier New"/>
                <a:ea typeface="Courier New"/>
                <a:cs typeface="Courier New"/>
                <a:sym typeface="Courier New"/>
              </a:rPr>
              <a:t>  virtual ~GameObject();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FE1F0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AFE1F0"/>
                </a:solidFill>
                <a:latin typeface="Courier New"/>
                <a:ea typeface="Courier New"/>
                <a:cs typeface="Courier New"/>
                <a:sym typeface="Courier New"/>
              </a:rPr>
              <a:t>protected: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EE8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E8EEE8"/>
                </a:solidFill>
                <a:latin typeface="Courier New"/>
                <a:ea typeface="Courier New"/>
                <a:cs typeface="Courier New"/>
                <a:sym typeface="Courier New"/>
              </a:rPr>
              <a:t>  float x, y;  int width, height;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6172200" y="1143000"/>
            <a:ext cx="5468112" cy="5212080"/>
          </a:xfrm>
          <a:prstGeom prst="roundRect">
            <a:avLst>
              <a:gd fmla="val 1579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1B2A20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6446520" y="1417320"/>
            <a:ext cx="640080" cy="640080"/>
          </a:xfrm>
          <a:prstGeom prst="ellipse">
            <a:avLst/>
          </a:prstGeom>
          <a:solidFill>
            <a:srgbClr val="FFF6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feather.png" id="203" name="Google Shape;20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6540" y="15773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7"/>
          <p:cNvSpPr/>
          <p:nvPr/>
        </p:nvSpPr>
        <p:spPr>
          <a:xfrm>
            <a:off x="7223760" y="146304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Bird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7223760" y="1901952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E"/>
              </a:buClr>
              <a:buSzPts val="1200"/>
              <a:buFont typeface="Arial"/>
              <a:buNone/>
            </a:pPr>
            <a:r>
              <a:rPr i="1" lang="en-US" sz="1200">
                <a:solidFill>
                  <a:srgbClr val="5B6B5E"/>
                </a:solidFill>
                <a:latin typeface="Arial"/>
                <a:ea typeface="Arial"/>
                <a:cs typeface="Arial"/>
                <a:sym typeface="Arial"/>
              </a:rPr>
              <a:t>ptak gracza · dziedziczy po GameObject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6492240" y="2331720"/>
            <a:ext cx="49377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1250"/>
              <a:buFont typeface="Arial"/>
              <a:buChar char="•"/>
            </a:pPr>
            <a:r>
              <a:rPr lang="en-US" sz="125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update() - dodaje grawitację do prędkości, ogranicza ją do 14 px/kl. i przesuwa ptaka w dół.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B2A20"/>
              </a:buClr>
              <a:buSzPts val="1250"/>
              <a:buFont typeface="Arial"/>
              <a:buChar char="•"/>
            </a:pPr>
            <a:r>
              <a:rPr lang="en-US" sz="125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jump() - nadaje ujemną prędkość pionową (impuls w górę).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B2A20"/>
              </a:buClr>
              <a:buSzPts val="1250"/>
              <a:buFont typeface="Arial"/>
              <a:buChar char="•"/>
            </a:pPr>
            <a:r>
              <a:rPr lang="en-US" sz="125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draw() - rysuje ciało, skrzydło, oko i dziób (QPolygon) przez QPainter.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B2A20"/>
              </a:buClr>
              <a:buSzPts val="1250"/>
              <a:buFont typeface="Arial"/>
              <a:buChar char="•"/>
            </a:pPr>
            <a:r>
              <a:rPr lang="en-US" sz="125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getCollisionRect() - zwraca hitbox trochę mniejszy od grafiki ptaka, żeby gra była fair.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6492240" y="4572000"/>
            <a:ext cx="4846320" cy="1554480"/>
          </a:xfrm>
          <a:prstGeom prst="roundRect">
            <a:avLst>
              <a:gd fmla="val 3529" name="adj"/>
            </a:avLst>
          </a:prstGeom>
          <a:solidFill>
            <a:srgbClr val="1B2A2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6675120" y="4754880"/>
            <a:ext cx="45720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FE1F0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AFE1F0"/>
                </a:solidFill>
                <a:latin typeface="Courier New"/>
                <a:ea typeface="Courier New"/>
                <a:cs typeface="Courier New"/>
                <a:sym typeface="Courier New"/>
              </a:rPr>
              <a:t>void Bird::update() {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EE8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E8EEE8"/>
                </a:solidFill>
                <a:latin typeface="Courier New"/>
                <a:ea typeface="Courier New"/>
                <a:cs typeface="Courier New"/>
                <a:sym typeface="Courier New"/>
              </a:rPr>
              <a:t>  velocityY += gravity;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DC8A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FDC8A"/>
                </a:solidFill>
                <a:latin typeface="Courier New"/>
                <a:ea typeface="Courier New"/>
                <a:cs typeface="Courier New"/>
                <a:sym typeface="Courier New"/>
              </a:rPr>
              <a:t>  if (velocityY &gt; 14) velocityY = 14;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EE8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E8EEE8"/>
                </a:solidFill>
                <a:latin typeface="Courier New"/>
                <a:ea typeface="Courier New"/>
                <a:cs typeface="Courier New"/>
                <a:sym typeface="Courier New"/>
              </a:rPr>
              <a:t>  y += velocityY;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FE1F0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AFE1F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5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B6B5E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2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Klasy: Pipe, PipeFactory i Ground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548640" y="1143000"/>
            <a:ext cx="3657600" cy="5166360"/>
          </a:xfrm>
          <a:prstGeom prst="roundRect">
            <a:avLst>
              <a:gd fmla="val 2250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1B2A20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777240" y="1371600"/>
            <a:ext cx="566928" cy="566928"/>
          </a:xfrm>
          <a:prstGeom prst="ellipse">
            <a:avLst/>
          </a:prstGeom>
          <a:solidFill>
            <a:srgbClr val="EAF4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stream.png" id="218" name="Google Shape;21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8972" y="151333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8"/>
          <p:cNvSpPr/>
          <p:nvPr/>
        </p:nvSpPr>
        <p:spPr>
          <a:xfrm>
            <a:off x="1463040" y="14173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Pipe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1463040" y="1810512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E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5B6B5E"/>
                </a:solidFill>
                <a:latin typeface="Arial"/>
                <a:ea typeface="Arial"/>
                <a:cs typeface="Arial"/>
                <a:sym typeface="Arial"/>
              </a:rPr>
              <a:t>para rur (przeszkoda)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777240" y="2194560"/>
            <a:ext cx="3200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Górna + dolna rura z przerwą.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B2A20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update() przesuwa rurę w lewo.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B2A20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Konstruktor waliduje parametry i rzuca wyjątek.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B2A20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Flaga passed - punkt liczony dokładnie raz.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777240" y="4114800"/>
            <a:ext cx="3200400" cy="2011680"/>
          </a:xfrm>
          <a:prstGeom prst="roundRect">
            <a:avLst>
              <a:gd fmla="val 2727" name="adj"/>
            </a:avLst>
          </a:prstGeom>
          <a:solidFill>
            <a:srgbClr val="1B2A2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960120" y="4279392"/>
            <a:ext cx="29260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DC8A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FFDC8A"/>
                </a:solidFill>
                <a:latin typeface="Courier New"/>
                <a:ea typeface="Courier New"/>
                <a:cs typeface="Courier New"/>
                <a:sym typeface="Courier New"/>
              </a:rPr>
              <a:t>if (gapHeight &lt; 90)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8EEE8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E8EEE8"/>
                </a:solidFill>
                <a:latin typeface="Courier New"/>
                <a:ea typeface="Courier New"/>
                <a:cs typeface="Courier New"/>
                <a:sym typeface="Courier New"/>
              </a:rPr>
              <a:t>  throw std::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8EEE8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E8EEE8"/>
                </a:solidFill>
                <a:latin typeface="Courier New"/>
                <a:ea typeface="Courier New"/>
                <a:cs typeface="Courier New"/>
                <a:sym typeface="Courier New"/>
              </a:rPr>
              <a:t>  invalid_argument(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FE6A0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9FE6A0"/>
                </a:solidFill>
                <a:latin typeface="Courier New"/>
                <a:ea typeface="Courier New"/>
                <a:cs typeface="Courier New"/>
                <a:sym typeface="Courier New"/>
              </a:rPr>
              <a:t>   "Przerwa za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FE6A0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9FE6A0"/>
                </a:solidFill>
                <a:latin typeface="Courier New"/>
                <a:ea typeface="Courier New"/>
                <a:cs typeface="Courier New"/>
                <a:sym typeface="Courier New"/>
              </a:rPr>
              <a:t>    mala!");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4343400" y="1143000"/>
            <a:ext cx="3657600" cy="5166360"/>
          </a:xfrm>
          <a:prstGeom prst="roundRect">
            <a:avLst>
              <a:gd fmla="val 2250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1B2A20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4572000" y="1371600"/>
            <a:ext cx="566928" cy="566928"/>
          </a:xfrm>
          <a:prstGeom prst="ellipse">
            <a:avLst/>
          </a:prstGeom>
          <a:solidFill>
            <a:srgbClr val="EAF4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industry.png" id="226" name="Google Shape;22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3732" y="151333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8"/>
          <p:cNvSpPr/>
          <p:nvPr/>
        </p:nvSpPr>
        <p:spPr>
          <a:xfrm>
            <a:off x="5257800" y="141732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PipeFactory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5257800" y="1810512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E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5B6B5E"/>
                </a:solidFill>
                <a:latin typeface="Arial"/>
                <a:ea typeface="Arial"/>
                <a:cs typeface="Arial"/>
                <a:sym typeface="Arial"/>
              </a:rPr>
              <a:t>wzorzec Factory Method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4572000" y="2194560"/>
            <a:ext cx="32004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Tworzy rury z losową pozycją przerwy.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B2A20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Łapie wyjątek z Pipe i podstawia bezpieczne wartości domyślne (fallback).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B2A20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setDifficulty() - steruje przerwą i prędkością (poziomy 1-5).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B2A20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GameWindow nie zna szczegółów tworzenia rur.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4572000" y="4206240"/>
            <a:ext cx="3200400" cy="1920240"/>
          </a:xfrm>
          <a:prstGeom prst="roundRect">
            <a:avLst>
              <a:gd fmla="val 2857" name="adj"/>
            </a:avLst>
          </a:prstGeom>
          <a:solidFill>
            <a:srgbClr val="1B2A2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754880" y="4370832"/>
            <a:ext cx="29260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FE1F0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AFE1F0"/>
                </a:solidFill>
                <a:latin typeface="Courier New"/>
                <a:ea typeface="Courier New"/>
                <a:cs typeface="Courier New"/>
                <a:sym typeface="Courier New"/>
              </a:rPr>
              <a:t>try {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8EEE8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E8EEE8"/>
                </a:solidFill>
                <a:latin typeface="Courier New"/>
                <a:ea typeface="Courier New"/>
                <a:cs typeface="Courier New"/>
                <a:sym typeface="Courier New"/>
              </a:rPr>
              <a:t>  return new Pipe(...);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DC8A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FFDC8A"/>
                </a:solidFill>
                <a:latin typeface="Courier New"/>
                <a:ea typeface="Courier New"/>
                <a:cs typeface="Courier New"/>
                <a:sym typeface="Courier New"/>
              </a:rPr>
              <a:t>} catch (...) {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8EEE8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E8EEE8"/>
                </a:solidFill>
                <a:latin typeface="Courier New"/>
                <a:ea typeface="Courier New"/>
                <a:cs typeface="Courier New"/>
                <a:sym typeface="Courier New"/>
              </a:rPr>
              <a:t>  return new Pipe(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FE6A0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9FE6A0"/>
                </a:solidFill>
                <a:latin typeface="Courier New"/>
                <a:ea typeface="Courier New"/>
                <a:cs typeface="Courier New"/>
                <a:sym typeface="Courier New"/>
              </a:rPr>
              <a:t>   safeDefaults);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8138160" y="1143000"/>
            <a:ext cx="3502152" cy="5166360"/>
          </a:xfrm>
          <a:prstGeom prst="roundRect">
            <a:avLst>
              <a:gd fmla="val 2350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1B2A20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8366760" y="1371600"/>
            <a:ext cx="566928" cy="566928"/>
          </a:xfrm>
          <a:prstGeom prst="ellipse">
            <a:avLst/>
          </a:prstGeom>
          <a:solidFill>
            <a:srgbClr val="EAF4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layers.png" id="234" name="Google Shape;23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8492" y="151333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8"/>
          <p:cNvSpPr/>
          <p:nvPr/>
        </p:nvSpPr>
        <p:spPr>
          <a:xfrm>
            <a:off x="9052560" y="141732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Ground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9052560" y="181051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5E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5B6B5E"/>
                </a:solidFill>
                <a:latin typeface="Arial"/>
                <a:ea typeface="Arial"/>
                <a:cs typeface="Arial"/>
                <a:sym typeface="Arial"/>
              </a:rPr>
              <a:t>podłoże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8366760" y="2194560"/>
            <a:ext cx="31089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A20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Statyczne - nie porusza się, więc update() jest puste.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B2A20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draw() rysuje pasy trawy i ziemi w kilku kolorach.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B2A20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1B2A20"/>
                </a:solidFill>
                <a:latin typeface="Arial"/>
                <a:ea typeface="Arial"/>
                <a:cs typeface="Arial"/>
                <a:sym typeface="Arial"/>
              </a:rPr>
              <a:t>getCollisionRect() zwraca prostokąt do wykrywania kolizji z ziemią.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8366760" y="4434840"/>
            <a:ext cx="3063240" cy="1691640"/>
          </a:xfrm>
          <a:prstGeom prst="roundRect">
            <a:avLst>
              <a:gd fmla="val 3243" name="adj"/>
            </a:avLst>
          </a:prstGeom>
          <a:solidFill>
            <a:srgbClr val="EAF4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8549640" y="4617720"/>
            <a:ext cx="26974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200"/>
              <a:buFont typeface="Arial"/>
              <a:buNone/>
            </a:pPr>
            <a:r>
              <a:rPr i="1" lang="en-US" sz="1200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GameObject wymusza implementację update(), ale Ground się nie rusza więc metoda jest po prostu pusta.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5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B6B5E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20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GameWindow - serce gry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566928" y="105156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E1F0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AFE1F0"/>
                </a:solidFill>
                <a:latin typeface="Arial"/>
                <a:ea typeface="Arial"/>
                <a:cs typeface="Arial"/>
                <a:sym typeface="Arial"/>
              </a:rPr>
              <a:t>Główne okno dziedziczy po QWidget i steruje całą rozgrywką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548640" y="1783080"/>
            <a:ext cx="5852160" cy="1051560"/>
          </a:xfrm>
          <a:prstGeom prst="roundRect">
            <a:avLst>
              <a:gd fmla="val 6957" name="adj"/>
            </a:avLst>
          </a:prstGeom>
          <a:solidFill>
            <a:srgbClr val="2238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777240" y="1911096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C200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2C200"/>
                </a:solidFill>
                <a:latin typeface="Arial"/>
                <a:ea typeface="Arial"/>
                <a:cs typeface="Arial"/>
                <a:sym typeface="Arial"/>
              </a:rPr>
              <a:t>Pętla gry (QTimer)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777240" y="228600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E8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E8EEE8"/>
                </a:solidFill>
                <a:latin typeface="Arial"/>
                <a:ea typeface="Arial"/>
                <a:cs typeface="Arial"/>
                <a:sym typeface="Arial"/>
              </a:rPr>
              <a:t>Co ~16 ms (≈60 FPS) wywołuje gameLoop(): aktualizuje ptaka i rury.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548640" y="2944368"/>
            <a:ext cx="5852160" cy="1051560"/>
          </a:xfrm>
          <a:prstGeom prst="roundRect">
            <a:avLst>
              <a:gd fmla="val 6957" name="adj"/>
            </a:avLst>
          </a:prstGeom>
          <a:solidFill>
            <a:srgbClr val="2238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777240" y="3072384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C200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2C200"/>
                </a:solidFill>
                <a:latin typeface="Arial"/>
                <a:ea typeface="Arial"/>
                <a:cs typeface="Arial"/>
                <a:sym typeface="Arial"/>
              </a:rPr>
              <a:t>Rysowanie (paintEvent)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777240" y="3447288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E8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E8EEE8"/>
                </a:solidFill>
                <a:latin typeface="Arial"/>
                <a:ea typeface="Arial"/>
                <a:cs typeface="Arial"/>
                <a:sym typeface="Arial"/>
              </a:rPr>
              <a:t>Rysuje tło, rury, ziemię, ptaka i UI - w odpowiedniej kolejności warstw.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548640" y="4105656"/>
            <a:ext cx="5852160" cy="1051560"/>
          </a:xfrm>
          <a:prstGeom prst="roundRect">
            <a:avLst>
              <a:gd fmla="val 6957" name="adj"/>
            </a:avLst>
          </a:prstGeom>
          <a:solidFill>
            <a:srgbClr val="2238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777240" y="423367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C200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2C200"/>
                </a:solidFill>
                <a:latin typeface="Arial"/>
                <a:ea typeface="Arial"/>
                <a:cs typeface="Arial"/>
                <a:sym typeface="Arial"/>
              </a:rPr>
              <a:t>Wejście gracza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777240" y="4608576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E8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E8EEE8"/>
                </a:solidFill>
                <a:latin typeface="Arial"/>
                <a:ea typeface="Arial"/>
                <a:cs typeface="Arial"/>
                <a:sym typeface="Arial"/>
              </a:rPr>
              <a:t>keyPressEvent / mousePressEvent - spacja, strzałka, LPM, Escape.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548640" y="5266944"/>
            <a:ext cx="5852160" cy="1051560"/>
          </a:xfrm>
          <a:prstGeom prst="roundRect">
            <a:avLst>
              <a:gd fmla="val 6957" name="adj"/>
            </a:avLst>
          </a:prstGeom>
          <a:solidFill>
            <a:srgbClr val="2238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777240" y="53949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C200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2C200"/>
                </a:solidFill>
                <a:latin typeface="Arial"/>
                <a:ea typeface="Arial"/>
                <a:cs typeface="Arial"/>
                <a:sym typeface="Arial"/>
              </a:rPr>
              <a:t>Stan i wynik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777240" y="5769864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E8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E8EEE8"/>
                </a:solidFill>
                <a:latin typeface="Arial"/>
                <a:ea typeface="Arial"/>
                <a:cs typeface="Arial"/>
                <a:sym typeface="Arial"/>
              </a:rPr>
              <a:t>Zarządza stanami START / PLAYING / GAMEOVER, liczy punkty i rekord.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6675120" y="1783080"/>
            <a:ext cx="4965192" cy="4507992"/>
          </a:xfrm>
          <a:prstGeom prst="roundRect">
            <a:avLst>
              <a:gd fmla="val 1623" name="adj"/>
            </a:avLst>
          </a:prstGeom>
          <a:solidFill>
            <a:srgbClr val="0E1A12"/>
          </a:solidFill>
          <a:ln cap="flat" cmpd="sng" w="12700">
            <a:solidFill>
              <a:srgbClr val="4EAF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6903720" y="19202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E6A0"/>
              </a:buClr>
              <a:buSzPts val="1400"/>
              <a:buFont typeface="Courier New"/>
              <a:buNone/>
            </a:pPr>
            <a:r>
              <a:rPr b="1" lang="en-US" sz="1400">
                <a:solidFill>
                  <a:srgbClr val="9FE6A0"/>
                </a:solidFill>
                <a:latin typeface="Courier New"/>
                <a:ea typeface="Courier New"/>
                <a:cs typeface="Courier New"/>
                <a:sym typeface="Courier New"/>
              </a:rPr>
              <a:t>gameLoop()  - co klatkę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6903720" y="2331720"/>
            <a:ext cx="457200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E8"/>
              </a:buClr>
              <a:buSzPts val="1300"/>
              <a:buFont typeface="Courier New"/>
              <a:buNone/>
            </a:pPr>
            <a:r>
              <a:rPr lang="en-US" sz="1300">
                <a:solidFill>
                  <a:srgbClr val="E8EEE8"/>
                </a:solidFill>
                <a:latin typeface="Courier New"/>
                <a:ea typeface="Courier New"/>
                <a:cs typeface="Courier New"/>
                <a:sym typeface="Courier New"/>
              </a:rPr>
              <a:t>frameCount++;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AFE1F0"/>
              </a:buClr>
              <a:buSzPts val="1300"/>
              <a:buFont typeface="Courier New"/>
              <a:buNone/>
            </a:pPr>
            <a:r>
              <a:rPr lang="en-US" sz="1300">
                <a:solidFill>
                  <a:srgbClr val="AFE1F0"/>
                </a:solidFill>
                <a:latin typeface="Courier New"/>
                <a:ea typeface="Courier New"/>
                <a:cs typeface="Courier New"/>
                <a:sym typeface="Courier New"/>
              </a:rPr>
              <a:t>bird-&gt;update();         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6FA980"/>
              </a:buClr>
              <a:buSzPts val="1300"/>
              <a:buFont typeface="Courier New"/>
              <a:buNone/>
            </a:pPr>
            <a:r>
              <a:rPr lang="en-US" sz="1300">
                <a:solidFill>
                  <a:srgbClr val="6FA980"/>
                </a:solidFill>
                <a:latin typeface="Courier New"/>
                <a:ea typeface="Courier New"/>
                <a:cs typeface="Courier New"/>
                <a:sym typeface="Courier New"/>
              </a:rPr>
              <a:t>// grawitacja + ruch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DC8A"/>
              </a:buClr>
              <a:buSzPts val="1300"/>
              <a:buFont typeface="Courier New"/>
              <a:buNone/>
            </a:pPr>
            <a:r>
              <a:rPr lang="en-US" sz="1300">
                <a:solidFill>
                  <a:srgbClr val="FFDC8A"/>
                </a:solidFill>
                <a:latin typeface="Courier New"/>
                <a:ea typeface="Courier New"/>
                <a:cs typeface="Courier New"/>
                <a:sym typeface="Courier New"/>
              </a:rPr>
              <a:t>if (frame % 88 == 0)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E8"/>
              </a:buClr>
              <a:buSzPts val="1300"/>
              <a:buFont typeface="Courier New"/>
              <a:buNone/>
            </a:pPr>
            <a:r>
              <a:rPr lang="en-US" sz="1300">
                <a:solidFill>
                  <a:srgbClr val="E8EEE8"/>
                </a:solidFill>
                <a:latin typeface="Courier New"/>
                <a:ea typeface="Courier New"/>
                <a:cs typeface="Courier New"/>
                <a:sym typeface="Courier New"/>
              </a:rPr>
              <a:t>  spawn nowej rury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DC8A"/>
              </a:buClr>
              <a:buSzPts val="1300"/>
              <a:buFont typeface="Courier New"/>
              <a:buNone/>
            </a:pPr>
            <a:r>
              <a:rPr lang="en-US" sz="1300">
                <a:solidFill>
                  <a:srgbClr val="FFDC8A"/>
                </a:solidFill>
                <a:latin typeface="Courier New"/>
                <a:ea typeface="Courier New"/>
                <a:cs typeface="Courier New"/>
                <a:sym typeface="Courier New"/>
              </a:rPr>
              <a:t>for (i = size-1; i&gt;=0; --i)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E8"/>
              </a:buClr>
              <a:buSzPts val="1300"/>
              <a:buFont typeface="Courier New"/>
              <a:buNone/>
            </a:pPr>
            <a:r>
              <a:rPr lang="en-US" sz="1300">
                <a:solidFill>
                  <a:srgbClr val="E8EEE8"/>
                </a:solidFill>
                <a:latin typeface="Courier New"/>
                <a:ea typeface="Courier New"/>
                <a:cs typeface="Courier New"/>
                <a:sym typeface="Courier New"/>
              </a:rPr>
              <a:t>  pipe-&gt;update();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E8"/>
              </a:buClr>
              <a:buSzPts val="1300"/>
              <a:buFont typeface="Courier New"/>
              <a:buNone/>
            </a:pPr>
            <a:r>
              <a:rPr lang="en-US" sz="1300">
                <a:solidFill>
                  <a:srgbClr val="E8EEE8"/>
                </a:solidFill>
                <a:latin typeface="Courier New"/>
                <a:ea typeface="Courier New"/>
                <a:cs typeface="Courier New"/>
                <a:sym typeface="Courier New"/>
              </a:rPr>
              <a:t>  usun rury za ekranem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AFE1F0"/>
              </a:buClr>
              <a:buSzPts val="1300"/>
              <a:buFont typeface="Courier New"/>
              <a:buNone/>
            </a:pPr>
            <a:r>
              <a:rPr lang="en-US" sz="1300">
                <a:solidFill>
                  <a:srgbClr val="AFE1F0"/>
                </a:solidFill>
                <a:latin typeface="Courier New"/>
                <a:ea typeface="Courier New"/>
                <a:cs typeface="Courier New"/>
                <a:sym typeface="Courier New"/>
              </a:rPr>
              <a:t>checkCollisions();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AFE1F0"/>
              </a:buClr>
              <a:buSzPts val="1300"/>
              <a:buFont typeface="Courier New"/>
              <a:buNone/>
            </a:pPr>
            <a:r>
              <a:rPr lang="en-US" sz="1300">
                <a:solidFill>
                  <a:srgbClr val="AFE1F0"/>
                </a:solidFill>
                <a:latin typeface="Courier New"/>
                <a:ea typeface="Courier New"/>
                <a:cs typeface="Courier New"/>
                <a:sym typeface="Courier New"/>
              </a:rPr>
              <a:t>updateScore();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AFE1F0"/>
              </a:buClr>
              <a:buSzPts val="1300"/>
              <a:buFont typeface="Courier New"/>
              <a:buNone/>
            </a:pPr>
            <a:r>
              <a:rPr lang="en-US" sz="1300">
                <a:solidFill>
                  <a:srgbClr val="AFE1F0"/>
                </a:solidFill>
                <a:latin typeface="Courier New"/>
                <a:ea typeface="Courier New"/>
                <a:cs typeface="Courier New"/>
                <a:sym typeface="Courier New"/>
              </a:rPr>
              <a:t>update();               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6FA980"/>
              </a:buClr>
              <a:buSzPts val="1300"/>
              <a:buFont typeface="Courier New"/>
              <a:buNone/>
            </a:pPr>
            <a:r>
              <a:rPr lang="en-US" sz="1300">
                <a:solidFill>
                  <a:srgbClr val="6FA980"/>
                </a:solidFill>
                <a:latin typeface="Courier New"/>
                <a:ea typeface="Courier New"/>
                <a:cs typeface="Courier New"/>
                <a:sym typeface="Courier New"/>
              </a:rPr>
              <a:t>// odswiez ekran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5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B6B5E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20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"/>
          <p:cNvSpPr/>
          <p:nvPr/>
        </p:nvSpPr>
        <p:spPr>
          <a:xfrm>
            <a:off x="2191160" y="457180"/>
            <a:ext cx="868800" cy="868800"/>
          </a:xfrm>
          <a:prstGeom prst="ellipse">
            <a:avLst/>
          </a:prstGeom>
          <a:solidFill>
            <a:srgbClr val="0E1A1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rocket_y.png" id="270" name="Google Shape;27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8330" y="67435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1"/>
          <p:cNvSpPr/>
          <p:nvPr/>
        </p:nvSpPr>
        <p:spPr>
          <a:xfrm>
            <a:off x="1874520" y="713232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3598095" y="1325850"/>
            <a:ext cx="4965300" cy="4206300"/>
          </a:xfrm>
          <a:prstGeom prst="roundRect">
            <a:avLst>
              <a:gd fmla="val 2174" name="adj"/>
            </a:avLst>
          </a:prstGeom>
          <a:solidFill>
            <a:srgbClr val="2238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3872415" y="150873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E6A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9FE6A0"/>
                </a:solidFill>
                <a:latin typeface="Arial"/>
                <a:ea typeface="Arial"/>
                <a:cs typeface="Arial"/>
                <a:sym typeface="Arial"/>
              </a:rPr>
              <a:t>Możliwości rozbudowy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3918135" y="2103090"/>
            <a:ext cx="44805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8EEE8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E8EEE8"/>
                </a:solidFill>
                <a:latin typeface="Arial"/>
                <a:ea typeface="Arial"/>
                <a:cs typeface="Arial"/>
                <a:sym typeface="Arial"/>
              </a:rPr>
              <a:t>Efekty dźwiękowe (Qt Multimedia)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E8EEE8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E8EEE8"/>
                </a:solidFill>
                <a:latin typeface="Arial"/>
                <a:ea typeface="Arial"/>
                <a:cs typeface="Arial"/>
                <a:sym typeface="Arial"/>
              </a:rPr>
              <a:t>Animacja machania skrzydłami ptaka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E8EEE8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E8EEE8"/>
                </a:solidFill>
                <a:latin typeface="Arial"/>
                <a:ea typeface="Arial"/>
                <a:cs typeface="Arial"/>
                <a:sym typeface="Arial"/>
              </a:rPr>
              <a:t>Zapis rekordu do pliku (QFile)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E8EEE8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E8EEE8"/>
                </a:solidFill>
                <a:latin typeface="Arial"/>
                <a:ea typeface="Arial"/>
                <a:cs typeface="Arial"/>
                <a:sym typeface="Arial"/>
              </a:rPr>
              <a:t>Lokalny tryb multiplayer (drugi ptak)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E8EEE8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E8EEE8"/>
                </a:solidFill>
                <a:latin typeface="Arial"/>
                <a:ea typeface="Arial"/>
                <a:cs typeface="Arial"/>
                <a:sym typeface="Arial"/>
              </a:rPr>
              <a:t>Motywy i poziomy trudności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2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2C200"/>
                </a:solidFill>
                <a:latin typeface="Arial"/>
                <a:ea typeface="Arial"/>
                <a:cs typeface="Arial"/>
                <a:sym typeface="Arial"/>
              </a:rPr>
              <a:t>Dziękujemy za uwagę!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5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B6B5E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2026-06-19T13:37:21Z</dcterms:created>
  <dc:creator>Olaf Rysiewicz, Dawid Skatuła, Szymon Panek</dc:creator>
</cp:coreProperties>
</file>